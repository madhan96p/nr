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66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7" d="100"/>
          <a:sy n="47" d="100"/>
        </p:scale>
        <p:origin x="11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4C2C47-AD87-756B-8F14-0F8B808150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35A24-6794-59C4-77EF-586DE77AB5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2FE34-7DA4-4EF8-9A38-A9725CA625C6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7C386-7F02-0622-88C1-6CB51DE597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35B35-1CD1-F433-10FD-95D4338DD3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0C2CB-01C0-4019-8E7D-59FB6CF40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0156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004AA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E2E2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004AA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E2E2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004AA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004AA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7743" y="415925"/>
            <a:ext cx="8563253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004AA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54110" y="1968500"/>
            <a:ext cx="13293725" cy="6197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E2E2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61261" y="2675906"/>
            <a:ext cx="3327021" cy="435557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321658" y="9258300"/>
            <a:ext cx="7721600" cy="1028700"/>
          </a:xfrm>
          <a:custGeom>
            <a:avLst/>
            <a:gdLst/>
            <a:ahLst/>
            <a:cxnLst/>
            <a:rect l="l" t="t" r="r" b="b"/>
            <a:pathLst>
              <a:path w="7721600" h="1028700">
                <a:moveTo>
                  <a:pt x="7721525" y="1028699"/>
                </a:moveTo>
                <a:lnTo>
                  <a:pt x="7668934" y="1028699"/>
                </a:lnTo>
                <a:lnTo>
                  <a:pt x="6692412" y="26276"/>
                </a:lnTo>
                <a:lnTo>
                  <a:pt x="6719405" y="0"/>
                </a:lnTo>
                <a:lnTo>
                  <a:pt x="7721525" y="1028699"/>
                </a:lnTo>
                <a:close/>
              </a:path>
              <a:path w="7721600" h="1028700">
                <a:moveTo>
                  <a:pt x="7415857" y="1028699"/>
                </a:moveTo>
                <a:lnTo>
                  <a:pt x="7365206" y="1028699"/>
                </a:lnTo>
                <a:lnTo>
                  <a:pt x="6388211" y="25791"/>
                </a:lnTo>
                <a:lnTo>
                  <a:pt x="6414207" y="482"/>
                </a:lnTo>
                <a:lnTo>
                  <a:pt x="7415857" y="1028699"/>
                </a:lnTo>
                <a:close/>
              </a:path>
              <a:path w="7721600" h="1028700">
                <a:moveTo>
                  <a:pt x="7110187" y="1028699"/>
                </a:moveTo>
                <a:lnTo>
                  <a:pt x="7061478" y="1028699"/>
                </a:lnTo>
                <a:lnTo>
                  <a:pt x="6084011" y="25305"/>
                </a:lnTo>
                <a:lnTo>
                  <a:pt x="6109010" y="968"/>
                </a:lnTo>
                <a:lnTo>
                  <a:pt x="7110187" y="1028699"/>
                </a:lnTo>
                <a:close/>
              </a:path>
              <a:path w="7721600" h="1028700">
                <a:moveTo>
                  <a:pt x="6804516" y="1028699"/>
                </a:moveTo>
                <a:lnTo>
                  <a:pt x="6757751" y="1028699"/>
                </a:lnTo>
                <a:lnTo>
                  <a:pt x="5779810" y="24820"/>
                </a:lnTo>
                <a:lnTo>
                  <a:pt x="5803812" y="1453"/>
                </a:lnTo>
                <a:lnTo>
                  <a:pt x="6804516" y="1028699"/>
                </a:lnTo>
                <a:close/>
              </a:path>
              <a:path w="7721600" h="1028700">
                <a:moveTo>
                  <a:pt x="6498846" y="1028699"/>
                </a:moveTo>
                <a:lnTo>
                  <a:pt x="6454022" y="1028699"/>
                </a:lnTo>
                <a:lnTo>
                  <a:pt x="5475610" y="24334"/>
                </a:lnTo>
                <a:lnTo>
                  <a:pt x="5498615" y="1938"/>
                </a:lnTo>
                <a:lnTo>
                  <a:pt x="6498846" y="1028699"/>
                </a:lnTo>
                <a:close/>
              </a:path>
              <a:path w="7721600" h="1028700">
                <a:moveTo>
                  <a:pt x="6193176" y="1028699"/>
                </a:moveTo>
                <a:lnTo>
                  <a:pt x="6150295" y="1028699"/>
                </a:lnTo>
                <a:lnTo>
                  <a:pt x="5171409" y="23849"/>
                </a:lnTo>
                <a:lnTo>
                  <a:pt x="5193417" y="2423"/>
                </a:lnTo>
                <a:lnTo>
                  <a:pt x="6193176" y="1028699"/>
                </a:lnTo>
                <a:close/>
              </a:path>
              <a:path w="7721600" h="1028700">
                <a:moveTo>
                  <a:pt x="5887506" y="1028699"/>
                </a:moveTo>
                <a:lnTo>
                  <a:pt x="5846566" y="1028699"/>
                </a:lnTo>
                <a:lnTo>
                  <a:pt x="4867208" y="23364"/>
                </a:lnTo>
                <a:lnTo>
                  <a:pt x="4888220" y="2909"/>
                </a:lnTo>
                <a:lnTo>
                  <a:pt x="5887506" y="1028699"/>
                </a:lnTo>
                <a:close/>
              </a:path>
              <a:path w="7721600" h="1028700">
                <a:moveTo>
                  <a:pt x="5581836" y="1028699"/>
                </a:moveTo>
                <a:lnTo>
                  <a:pt x="5542839" y="1028699"/>
                </a:lnTo>
                <a:lnTo>
                  <a:pt x="4563008" y="22879"/>
                </a:lnTo>
                <a:lnTo>
                  <a:pt x="4583022" y="3394"/>
                </a:lnTo>
                <a:lnTo>
                  <a:pt x="5581836" y="1028699"/>
                </a:lnTo>
                <a:close/>
              </a:path>
              <a:path w="7721600" h="1028700">
                <a:moveTo>
                  <a:pt x="5276165" y="1028699"/>
                </a:moveTo>
                <a:lnTo>
                  <a:pt x="5239111" y="1028699"/>
                </a:lnTo>
                <a:lnTo>
                  <a:pt x="4258807" y="22393"/>
                </a:lnTo>
                <a:lnTo>
                  <a:pt x="4277825" y="3879"/>
                </a:lnTo>
                <a:lnTo>
                  <a:pt x="5276165" y="1028699"/>
                </a:lnTo>
                <a:close/>
              </a:path>
              <a:path w="7721600" h="1028700">
                <a:moveTo>
                  <a:pt x="4970494" y="1028699"/>
                </a:moveTo>
                <a:lnTo>
                  <a:pt x="4935383" y="1028699"/>
                </a:lnTo>
                <a:lnTo>
                  <a:pt x="3954607" y="21908"/>
                </a:lnTo>
                <a:lnTo>
                  <a:pt x="3972627" y="4365"/>
                </a:lnTo>
                <a:lnTo>
                  <a:pt x="4970494" y="1028699"/>
                </a:lnTo>
                <a:close/>
              </a:path>
              <a:path w="7721600" h="1028700">
                <a:moveTo>
                  <a:pt x="4664824" y="1028699"/>
                </a:moveTo>
                <a:lnTo>
                  <a:pt x="4631655" y="1028699"/>
                </a:lnTo>
                <a:lnTo>
                  <a:pt x="3650406" y="21423"/>
                </a:lnTo>
                <a:lnTo>
                  <a:pt x="3667430" y="4850"/>
                </a:lnTo>
                <a:lnTo>
                  <a:pt x="4664824" y="1028699"/>
                </a:lnTo>
                <a:close/>
              </a:path>
              <a:path w="7721600" h="1028700">
                <a:moveTo>
                  <a:pt x="4359154" y="1028699"/>
                </a:moveTo>
                <a:lnTo>
                  <a:pt x="4327927" y="1028699"/>
                </a:lnTo>
                <a:lnTo>
                  <a:pt x="3346206" y="20938"/>
                </a:lnTo>
                <a:lnTo>
                  <a:pt x="3362232" y="5335"/>
                </a:lnTo>
                <a:lnTo>
                  <a:pt x="4359154" y="1028699"/>
                </a:lnTo>
                <a:close/>
              </a:path>
              <a:path w="7721600" h="1028700">
                <a:moveTo>
                  <a:pt x="4053484" y="1028699"/>
                </a:moveTo>
                <a:lnTo>
                  <a:pt x="4024199" y="1028699"/>
                </a:lnTo>
                <a:lnTo>
                  <a:pt x="3042005" y="20453"/>
                </a:lnTo>
                <a:lnTo>
                  <a:pt x="3057034" y="5821"/>
                </a:lnTo>
                <a:lnTo>
                  <a:pt x="4053484" y="1028699"/>
                </a:lnTo>
                <a:close/>
              </a:path>
              <a:path w="7721600" h="1028700">
                <a:moveTo>
                  <a:pt x="3747814" y="1028699"/>
                </a:moveTo>
                <a:lnTo>
                  <a:pt x="3720471" y="1028699"/>
                </a:lnTo>
                <a:lnTo>
                  <a:pt x="2737805" y="19967"/>
                </a:lnTo>
                <a:lnTo>
                  <a:pt x="2751837" y="6306"/>
                </a:lnTo>
                <a:lnTo>
                  <a:pt x="3747814" y="1028699"/>
                </a:lnTo>
                <a:close/>
              </a:path>
              <a:path w="7721600" h="1028700">
                <a:moveTo>
                  <a:pt x="3442143" y="1028699"/>
                </a:moveTo>
                <a:lnTo>
                  <a:pt x="3416743" y="1028699"/>
                </a:lnTo>
                <a:lnTo>
                  <a:pt x="2433604" y="19482"/>
                </a:lnTo>
                <a:lnTo>
                  <a:pt x="2446639" y="6791"/>
                </a:lnTo>
                <a:lnTo>
                  <a:pt x="3442143" y="1028699"/>
                </a:lnTo>
                <a:close/>
              </a:path>
              <a:path w="7721600" h="1028700">
                <a:moveTo>
                  <a:pt x="3136473" y="1028699"/>
                </a:moveTo>
                <a:lnTo>
                  <a:pt x="3113015" y="1028699"/>
                </a:lnTo>
                <a:lnTo>
                  <a:pt x="2129404" y="18996"/>
                </a:lnTo>
                <a:lnTo>
                  <a:pt x="2141442" y="7276"/>
                </a:lnTo>
                <a:lnTo>
                  <a:pt x="3136473" y="1028699"/>
                </a:lnTo>
                <a:close/>
              </a:path>
              <a:path w="7721600" h="1028700">
                <a:moveTo>
                  <a:pt x="2830803" y="1028699"/>
                </a:moveTo>
                <a:lnTo>
                  <a:pt x="2809288" y="1028699"/>
                </a:lnTo>
                <a:lnTo>
                  <a:pt x="1825203" y="18511"/>
                </a:lnTo>
                <a:lnTo>
                  <a:pt x="1836245" y="7761"/>
                </a:lnTo>
                <a:lnTo>
                  <a:pt x="2830803" y="1028699"/>
                </a:lnTo>
                <a:close/>
              </a:path>
              <a:path w="7721600" h="1028700">
                <a:moveTo>
                  <a:pt x="2525133" y="1028699"/>
                </a:moveTo>
                <a:lnTo>
                  <a:pt x="2505559" y="1028699"/>
                </a:lnTo>
                <a:lnTo>
                  <a:pt x="1521002" y="18026"/>
                </a:lnTo>
                <a:lnTo>
                  <a:pt x="1531047" y="8247"/>
                </a:lnTo>
                <a:lnTo>
                  <a:pt x="2525133" y="1028699"/>
                </a:lnTo>
                <a:close/>
              </a:path>
              <a:path w="7721600" h="1028700">
                <a:moveTo>
                  <a:pt x="2219462" y="1028699"/>
                </a:moveTo>
                <a:lnTo>
                  <a:pt x="2201831" y="1028699"/>
                </a:lnTo>
                <a:lnTo>
                  <a:pt x="1216802" y="17541"/>
                </a:lnTo>
                <a:lnTo>
                  <a:pt x="1225850" y="8732"/>
                </a:lnTo>
                <a:lnTo>
                  <a:pt x="2219462" y="1028699"/>
                </a:lnTo>
                <a:close/>
              </a:path>
              <a:path w="7721600" h="1028700">
                <a:moveTo>
                  <a:pt x="1913792" y="1028699"/>
                </a:moveTo>
                <a:lnTo>
                  <a:pt x="1898103" y="1028699"/>
                </a:lnTo>
                <a:lnTo>
                  <a:pt x="912601" y="17055"/>
                </a:lnTo>
                <a:lnTo>
                  <a:pt x="920652" y="9217"/>
                </a:lnTo>
                <a:lnTo>
                  <a:pt x="1913792" y="1028699"/>
                </a:lnTo>
                <a:close/>
              </a:path>
              <a:path w="7721600" h="1028700">
                <a:moveTo>
                  <a:pt x="1608122" y="1028699"/>
                </a:moveTo>
                <a:lnTo>
                  <a:pt x="1594375" y="1028699"/>
                </a:lnTo>
                <a:lnTo>
                  <a:pt x="608400" y="16570"/>
                </a:lnTo>
                <a:lnTo>
                  <a:pt x="615455" y="9703"/>
                </a:lnTo>
                <a:lnTo>
                  <a:pt x="1608122" y="1028699"/>
                </a:lnTo>
                <a:close/>
              </a:path>
              <a:path w="7721600" h="1028700">
                <a:moveTo>
                  <a:pt x="1302452" y="1028699"/>
                </a:moveTo>
                <a:lnTo>
                  <a:pt x="1290647" y="1028699"/>
                </a:lnTo>
                <a:lnTo>
                  <a:pt x="304200" y="16085"/>
                </a:lnTo>
                <a:lnTo>
                  <a:pt x="310257" y="10188"/>
                </a:lnTo>
                <a:lnTo>
                  <a:pt x="1302452" y="1028699"/>
                </a:lnTo>
                <a:close/>
              </a:path>
              <a:path w="7721600" h="1028700">
                <a:moveTo>
                  <a:pt x="996781" y="1028699"/>
                </a:moveTo>
                <a:lnTo>
                  <a:pt x="986919" y="1028699"/>
                </a:lnTo>
                <a:lnTo>
                  <a:pt x="0" y="15600"/>
                </a:lnTo>
                <a:lnTo>
                  <a:pt x="5060" y="10673"/>
                </a:lnTo>
                <a:lnTo>
                  <a:pt x="996781" y="1028699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5774" y="172278"/>
            <a:ext cx="7829550" cy="17144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85630" y="1922994"/>
            <a:ext cx="3327021" cy="1458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990" marR="5080" indent="-1177925">
              <a:lnSpc>
                <a:spcPct val="123400"/>
              </a:lnSpc>
              <a:spcBef>
                <a:spcPts val="100"/>
              </a:spcBef>
            </a:pPr>
            <a:r>
              <a:rPr sz="4000" spc="60" dirty="0">
                <a:solidFill>
                  <a:srgbClr val="000000"/>
                </a:solidFill>
                <a:latin typeface="Times New Roman"/>
                <a:cs typeface="Times New Roman"/>
              </a:rPr>
              <a:t>INTERNSHIP </a:t>
            </a:r>
            <a:r>
              <a:rPr sz="40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62770" y="3570857"/>
            <a:ext cx="744362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30" dirty="0">
                <a:latin typeface="Times New Roman"/>
                <a:cs typeface="Times New Roman"/>
              </a:rPr>
              <a:t>MOBILE</a:t>
            </a:r>
            <a:r>
              <a:rPr sz="4000" b="1" spc="-254" dirty="0">
                <a:latin typeface="Times New Roman"/>
                <a:cs typeface="Times New Roman"/>
              </a:rPr>
              <a:t> </a:t>
            </a:r>
            <a:r>
              <a:rPr sz="4000" b="1" spc="150" dirty="0">
                <a:latin typeface="Times New Roman"/>
                <a:cs typeface="Times New Roman"/>
              </a:rPr>
              <a:t>APP</a:t>
            </a:r>
            <a:r>
              <a:rPr sz="4000" b="1" spc="-254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DEVELOPMENT</a:t>
            </a:r>
            <a:endParaRPr sz="4000" b="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8949" y="5687157"/>
            <a:ext cx="12586335" cy="259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892415">
              <a:lnSpc>
                <a:spcPct val="116399"/>
              </a:lnSpc>
              <a:spcBef>
                <a:spcPts val="100"/>
              </a:spcBef>
            </a:pPr>
            <a:r>
              <a:rPr sz="2900" spc="130" dirty="0">
                <a:latin typeface="Times New Roman"/>
                <a:cs typeface="Times New Roman"/>
              </a:rPr>
              <a:t>Done</a:t>
            </a:r>
            <a:r>
              <a:rPr sz="2900" spc="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by:</a:t>
            </a:r>
            <a:r>
              <a:rPr sz="2900" spc="30" dirty="0">
                <a:latin typeface="Times New Roman"/>
                <a:cs typeface="Times New Roman"/>
              </a:rPr>
              <a:t> </a:t>
            </a:r>
            <a:r>
              <a:rPr sz="2900" spc="85" dirty="0">
                <a:latin typeface="Times New Roman"/>
                <a:cs typeface="Times New Roman"/>
              </a:rPr>
              <a:t>R.</a:t>
            </a:r>
            <a:r>
              <a:rPr lang="en-IN" sz="2900" spc="85" dirty="0">
                <a:latin typeface="Times New Roman"/>
                <a:cs typeface="Times New Roman"/>
              </a:rPr>
              <a:t> </a:t>
            </a:r>
            <a:r>
              <a:rPr sz="2900" spc="85" dirty="0" err="1">
                <a:latin typeface="Times New Roman"/>
                <a:cs typeface="Times New Roman"/>
              </a:rPr>
              <a:t>Niranjanadevi</a:t>
            </a:r>
            <a:r>
              <a:rPr sz="2900" spc="8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Register</a:t>
            </a:r>
            <a:r>
              <a:rPr sz="2900" spc="175" dirty="0">
                <a:latin typeface="Times New Roman"/>
                <a:cs typeface="Times New Roman"/>
              </a:rPr>
              <a:t> </a:t>
            </a:r>
            <a:r>
              <a:rPr sz="2900" spc="105" dirty="0">
                <a:latin typeface="Times New Roman"/>
                <a:cs typeface="Times New Roman"/>
              </a:rPr>
              <a:t>Number:</a:t>
            </a:r>
            <a:r>
              <a:rPr lang="en-IN" sz="2900" spc="175" dirty="0">
                <a:latin typeface="Times New Roman"/>
                <a:cs typeface="Times New Roman"/>
              </a:rPr>
              <a:t> </a:t>
            </a:r>
            <a:r>
              <a:rPr lang="en-IN" sz="2900" spc="65" dirty="0">
                <a:latin typeface="Times New Roman"/>
                <a:cs typeface="Times New Roman"/>
              </a:rPr>
              <a:t>23IFTE031</a:t>
            </a:r>
            <a:endParaRPr lang="en-IN" sz="2900" dirty="0">
              <a:latin typeface="Times New Roman"/>
              <a:cs typeface="Times New Roman"/>
            </a:endParaRPr>
          </a:p>
          <a:p>
            <a:pPr marL="12700" marR="5080">
              <a:lnSpc>
                <a:spcPct val="116399"/>
              </a:lnSpc>
              <a:tabLst>
                <a:tab pos="3946525" algn="l"/>
                <a:tab pos="5630545" algn="l"/>
                <a:tab pos="7091680" algn="l"/>
              </a:tabLst>
            </a:pPr>
            <a:r>
              <a:rPr lang="en-IN" sz="2900" spc="80" dirty="0">
                <a:latin typeface="Times New Roman"/>
                <a:cs typeface="Times New Roman"/>
              </a:rPr>
              <a:t>Guide:</a:t>
            </a:r>
            <a:r>
              <a:rPr lang="en-IN" sz="2900" spc="40" dirty="0">
                <a:latin typeface="Times New Roman"/>
                <a:cs typeface="Times New Roman"/>
              </a:rPr>
              <a:t> </a:t>
            </a:r>
            <a:r>
              <a:rPr lang="en-IN" sz="2900" dirty="0">
                <a:latin typeface="Times New Roman"/>
                <a:cs typeface="Times New Roman"/>
              </a:rPr>
              <a:t>Dr. </a:t>
            </a:r>
            <a:r>
              <a:rPr lang="en-IN" sz="2900" dirty="0" err="1">
                <a:latin typeface="Times New Roman"/>
                <a:cs typeface="Times New Roman"/>
              </a:rPr>
              <a:t>Sudhasini</a:t>
            </a:r>
            <a:r>
              <a:rPr lang="en-IN" sz="2900" dirty="0">
                <a:latin typeface="Times New Roman"/>
                <a:cs typeface="Times New Roman"/>
              </a:rPr>
              <a:t> </a:t>
            </a:r>
            <a:r>
              <a:rPr lang="en-IN" sz="2900" spc="-25" dirty="0">
                <a:latin typeface="Times New Roman"/>
                <a:cs typeface="Times New Roman"/>
              </a:rPr>
              <a:t>P,</a:t>
            </a:r>
            <a:r>
              <a:rPr lang="en-IN" sz="2900" dirty="0">
                <a:latin typeface="Times New Roman"/>
                <a:cs typeface="Times New Roman"/>
              </a:rPr>
              <a:t>	</a:t>
            </a:r>
            <a:r>
              <a:rPr lang="en-IN" sz="2900" spc="65" dirty="0">
                <a:latin typeface="Times New Roman"/>
                <a:cs typeface="Times New Roman"/>
              </a:rPr>
              <a:t>M.S(IT).,</a:t>
            </a:r>
            <a:r>
              <a:rPr lang="en-IN" sz="2900" dirty="0">
                <a:latin typeface="Times New Roman"/>
                <a:cs typeface="Times New Roman"/>
              </a:rPr>
              <a:t>	</a:t>
            </a:r>
            <a:r>
              <a:rPr lang="en-IN" sz="2900" spc="55" dirty="0">
                <a:latin typeface="Times New Roman"/>
                <a:cs typeface="Times New Roman"/>
              </a:rPr>
              <a:t>M.B.A.,</a:t>
            </a:r>
            <a:r>
              <a:rPr lang="en-IN" sz="2900" dirty="0">
                <a:latin typeface="Times New Roman"/>
                <a:cs typeface="Times New Roman"/>
              </a:rPr>
              <a:t>	</a:t>
            </a:r>
            <a:r>
              <a:rPr lang="en-IN" sz="2900" spc="80" dirty="0">
                <a:latin typeface="Times New Roman"/>
                <a:cs typeface="Times New Roman"/>
              </a:rPr>
              <a:t>M.Phil.,</a:t>
            </a:r>
            <a:r>
              <a:rPr lang="en-IN" sz="2900" spc="15" dirty="0">
                <a:latin typeface="Times New Roman"/>
                <a:cs typeface="Times New Roman"/>
              </a:rPr>
              <a:t> </a:t>
            </a:r>
            <a:r>
              <a:rPr lang="en-IN" sz="2900" spc="85" dirty="0">
                <a:latin typeface="Times New Roman"/>
                <a:cs typeface="Times New Roman"/>
              </a:rPr>
              <a:t>Ph.D.,</a:t>
            </a:r>
            <a:r>
              <a:rPr lang="en-IN" sz="2900" spc="20" dirty="0">
                <a:latin typeface="Times New Roman"/>
                <a:cs typeface="Times New Roman"/>
              </a:rPr>
              <a:t> </a:t>
            </a:r>
            <a:r>
              <a:rPr lang="en-IN" sz="2900" spc="70" dirty="0">
                <a:latin typeface="Times New Roman"/>
                <a:cs typeface="Times New Roman"/>
              </a:rPr>
              <a:t>Assistant</a:t>
            </a:r>
            <a:r>
              <a:rPr lang="en-IN" sz="2900" spc="20" dirty="0">
                <a:latin typeface="Times New Roman"/>
                <a:cs typeface="Times New Roman"/>
              </a:rPr>
              <a:t> </a:t>
            </a:r>
            <a:r>
              <a:rPr lang="en-IN" sz="2900" spc="50" dirty="0">
                <a:latin typeface="Times New Roman"/>
                <a:cs typeface="Times New Roman"/>
              </a:rPr>
              <a:t>Professor </a:t>
            </a:r>
            <a:r>
              <a:rPr lang="en-IN" sz="2900" spc="75" dirty="0">
                <a:latin typeface="Times New Roman"/>
                <a:cs typeface="Times New Roman"/>
              </a:rPr>
              <a:t>Organization</a:t>
            </a:r>
            <a:r>
              <a:rPr lang="en-IN" sz="2900" spc="15" dirty="0">
                <a:latin typeface="Times New Roman"/>
                <a:cs typeface="Times New Roman"/>
              </a:rPr>
              <a:t> </a:t>
            </a:r>
            <a:r>
              <a:rPr lang="en-IN" sz="2900" spc="110" dirty="0">
                <a:latin typeface="Times New Roman"/>
                <a:cs typeface="Times New Roman"/>
              </a:rPr>
              <a:t>Mentor:</a:t>
            </a:r>
            <a:r>
              <a:rPr lang="en-IN" sz="2900" spc="15" dirty="0">
                <a:latin typeface="Times New Roman"/>
                <a:cs typeface="Times New Roman"/>
              </a:rPr>
              <a:t> </a:t>
            </a:r>
            <a:r>
              <a:rPr lang="en-IN" sz="2900" spc="70" dirty="0">
                <a:latin typeface="Times New Roman"/>
                <a:cs typeface="Times New Roman"/>
              </a:rPr>
              <a:t>Mr. </a:t>
            </a:r>
            <a:r>
              <a:rPr lang="en-IN" sz="2900" spc="70" dirty="0" err="1">
                <a:latin typeface="Times New Roman"/>
                <a:cs typeface="Times New Roman"/>
              </a:rPr>
              <a:t>Rajeshwaran</a:t>
            </a:r>
            <a:r>
              <a:rPr lang="en-IN" sz="2900" spc="70" dirty="0">
                <a:latin typeface="Times New Roman"/>
                <a:cs typeface="Times New Roman"/>
              </a:rPr>
              <a:t>,</a:t>
            </a:r>
            <a:endParaRPr lang="en-IN" sz="2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900" spc="185" dirty="0">
                <a:latin typeface="Times New Roman"/>
                <a:cs typeface="Times New Roman"/>
              </a:rPr>
              <a:t>Dot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135" dirty="0">
                <a:latin typeface="Times New Roman"/>
                <a:cs typeface="Times New Roman"/>
              </a:rPr>
              <a:t>Com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Infoway,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125" dirty="0">
                <a:latin typeface="Times New Roman"/>
                <a:cs typeface="Times New Roman"/>
              </a:rPr>
              <a:t>Madurai</a:t>
            </a:r>
            <a:endParaRPr sz="2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103124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CONTENT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20016" y="-11234"/>
            <a:ext cx="7667970" cy="25231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2818" y="3122930"/>
            <a:ext cx="114300" cy="114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02218" y="2421248"/>
            <a:ext cx="3686810" cy="3873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7800"/>
              </a:lnSpc>
              <a:spcBef>
                <a:spcPts val="100"/>
              </a:spcBef>
            </a:pPr>
            <a:r>
              <a:rPr sz="4000" spc="190" dirty="0">
                <a:solidFill>
                  <a:srgbClr val="2E2E2E"/>
                </a:solidFill>
                <a:latin typeface="Times New Roman"/>
                <a:cs typeface="Times New Roman"/>
              </a:rPr>
              <a:t>About</a:t>
            </a:r>
            <a:r>
              <a:rPr sz="4000" spc="5" dirty="0">
                <a:solidFill>
                  <a:srgbClr val="2E2E2E"/>
                </a:solidFill>
                <a:latin typeface="Times New Roman"/>
                <a:cs typeface="Times New Roman"/>
              </a:rPr>
              <a:t> </a:t>
            </a:r>
            <a:r>
              <a:rPr sz="4000" spc="150" dirty="0">
                <a:solidFill>
                  <a:srgbClr val="2E2E2E"/>
                </a:solidFill>
                <a:latin typeface="Times New Roman"/>
                <a:cs typeface="Times New Roman"/>
              </a:rPr>
              <a:t>Company </a:t>
            </a:r>
            <a:r>
              <a:rPr sz="4000" spc="180" dirty="0">
                <a:solidFill>
                  <a:srgbClr val="2E2E2E"/>
                </a:solidFill>
                <a:latin typeface="Times New Roman"/>
                <a:cs typeface="Times New Roman"/>
              </a:rPr>
              <a:t>Work</a:t>
            </a:r>
            <a:r>
              <a:rPr sz="4000" spc="10" dirty="0">
                <a:solidFill>
                  <a:srgbClr val="2E2E2E"/>
                </a:solidFill>
                <a:latin typeface="Times New Roman"/>
                <a:cs typeface="Times New Roman"/>
              </a:rPr>
              <a:t> </a:t>
            </a:r>
            <a:r>
              <a:rPr sz="4000" spc="165" dirty="0">
                <a:solidFill>
                  <a:srgbClr val="2E2E2E"/>
                </a:solidFill>
                <a:latin typeface="Times New Roman"/>
                <a:cs typeface="Times New Roman"/>
              </a:rPr>
              <a:t>Done </a:t>
            </a:r>
            <a:r>
              <a:rPr sz="4000" spc="55" dirty="0">
                <a:solidFill>
                  <a:srgbClr val="2E2E2E"/>
                </a:solidFill>
                <a:latin typeface="Times New Roman"/>
                <a:cs typeface="Times New Roman"/>
              </a:rPr>
              <a:t>Reflexion </a:t>
            </a:r>
            <a:r>
              <a:rPr sz="4000" spc="185" dirty="0">
                <a:solidFill>
                  <a:srgbClr val="2E2E2E"/>
                </a:solidFill>
                <a:latin typeface="Times New Roman"/>
                <a:cs typeface="Times New Roman"/>
              </a:rPr>
              <a:t>Output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2818" y="4084955"/>
            <a:ext cx="114300" cy="114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2818" y="5046980"/>
            <a:ext cx="114300" cy="1143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2818" y="6009005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3860" y="4477787"/>
            <a:ext cx="3154081" cy="4408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7743" y="461644"/>
            <a:ext cx="711580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81960" algn="l"/>
              </a:tabLst>
            </a:pPr>
            <a:r>
              <a:rPr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2075" y="4383404"/>
            <a:ext cx="76200" cy="76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2075" y="4850129"/>
            <a:ext cx="76200" cy="76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2075" y="5316854"/>
            <a:ext cx="76200" cy="762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16000" y="2205348"/>
            <a:ext cx="14480540" cy="6198492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500" b="1" spc="1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sz="2500" b="1" spc="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1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sz="2500" spc="1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sz="2500" spc="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14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sz="2500" spc="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6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Infoway</a:t>
            </a:r>
            <a:r>
              <a:rPr sz="2500" spc="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7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(DCI)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22500"/>
              </a:lnSpc>
            </a:pPr>
            <a:r>
              <a:rPr sz="2500" b="1" spc="7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r>
              <a:rPr sz="2500" b="1" spc="1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14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500" spc="1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0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Floor,</a:t>
            </a:r>
            <a:r>
              <a:rPr sz="2500" spc="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Vaigai</a:t>
            </a:r>
            <a:r>
              <a:rPr sz="2500" spc="1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7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Colony,</a:t>
            </a:r>
            <a:r>
              <a:rPr sz="2500" spc="1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8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sz="2500" spc="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3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</a:t>
            </a:r>
            <a:r>
              <a:rPr sz="2500" spc="1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sz="2500" spc="1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sz="2500" spc="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8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Feet</a:t>
            </a:r>
            <a:r>
              <a:rPr sz="2500" spc="1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3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Rd,</a:t>
            </a:r>
            <a:r>
              <a:rPr sz="2500" spc="1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opp.</a:t>
            </a:r>
            <a:r>
              <a:rPr sz="2500" spc="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2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500" spc="1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9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Ambika</a:t>
            </a:r>
            <a:r>
              <a:rPr sz="2500" spc="1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7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Theatre,</a:t>
            </a:r>
            <a:r>
              <a:rPr sz="2500" spc="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</a:t>
            </a:r>
            <a:r>
              <a:rPr sz="2500" spc="1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Nagar,</a:t>
            </a:r>
            <a:r>
              <a:rPr sz="2500" spc="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9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Madurai, </a:t>
            </a:r>
            <a:r>
              <a:rPr sz="2500" spc="5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Tamil</a:t>
            </a:r>
            <a:r>
              <a:rPr sz="2500" spc="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5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Nadu</a:t>
            </a:r>
            <a:r>
              <a:rPr sz="2500" spc="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625020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500" b="1" spc="-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sz="2500" spc="-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190">
              <a:lnSpc>
                <a:spcPct val="100000"/>
              </a:lnSpc>
              <a:spcBef>
                <a:spcPts val="675"/>
              </a:spcBef>
            </a:pPr>
            <a:r>
              <a:rPr sz="2500" spc="12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500" spc="4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5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premier</a:t>
            </a:r>
            <a:r>
              <a:rPr sz="2500" spc="4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500" spc="4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7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sz="2500" spc="4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offering</a:t>
            </a:r>
            <a:r>
              <a:rPr sz="2500" spc="4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5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offshore</a:t>
            </a:r>
            <a:r>
              <a:rPr sz="2500" spc="4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6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outsourcing</a:t>
            </a:r>
            <a:r>
              <a:rPr sz="2500" spc="4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5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r>
              <a:rPr sz="2500" spc="4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globally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1815" marR="2696845" indent="78740">
              <a:lnSpc>
                <a:spcPct val="122500"/>
              </a:lnSpc>
            </a:pPr>
            <a:r>
              <a:rPr sz="2500" spc="4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2500" spc="6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5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</a:t>
            </a:r>
            <a:r>
              <a:rPr sz="2500" spc="7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to-</a:t>
            </a:r>
            <a:r>
              <a:rPr sz="2500" spc="7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sz="2500" spc="6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500" spc="6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services:</a:t>
            </a:r>
            <a:r>
              <a:rPr sz="2500" spc="6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5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software,</a:t>
            </a:r>
            <a:r>
              <a:rPr sz="2500" spc="6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web,</a:t>
            </a:r>
            <a:r>
              <a:rPr sz="2500" spc="6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sz="2500" spc="6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7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apps,</a:t>
            </a:r>
            <a:r>
              <a:rPr sz="2500" spc="6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500" spc="6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sz="2500" spc="6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marketing </a:t>
            </a:r>
            <a:r>
              <a:rPr sz="2500" spc="114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sz="2500" spc="13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7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500" spc="13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scalable,</a:t>
            </a:r>
            <a:r>
              <a:rPr sz="2500" spc="13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customized,</a:t>
            </a:r>
            <a:r>
              <a:rPr sz="2500" spc="13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500" spc="14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  <a:r>
              <a:rPr sz="2500" spc="13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4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</a:t>
            </a:r>
            <a:r>
              <a:rPr sz="2500" spc="13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4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500" b="1" spc="4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r>
              <a:rPr sz="2500" spc="4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8305" indent="-237490">
              <a:lnSpc>
                <a:spcPct val="100000"/>
              </a:lnSpc>
              <a:buChar char="*"/>
              <a:tabLst>
                <a:tab pos="408305" algn="l"/>
              </a:tabLst>
            </a:pP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z="2500" spc="6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9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sz="2500" spc="6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  <a:r>
              <a:rPr sz="2500" spc="6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8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500" spc="6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500" spc="6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7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sz="2500" spc="6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</a:t>
            </a:r>
            <a:r>
              <a:rPr sz="2500" spc="6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8305" indent="-237490">
              <a:lnSpc>
                <a:spcPct val="100000"/>
              </a:lnSpc>
              <a:spcBef>
                <a:spcPts val="675"/>
              </a:spcBef>
              <a:buChar char="*"/>
              <a:tabLst>
                <a:tab pos="408305" algn="l"/>
              </a:tabLst>
            </a:pPr>
            <a:r>
              <a:rPr sz="2500" spc="7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Focused</a:t>
            </a:r>
            <a:r>
              <a:rPr sz="2500" spc="1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  <a:r>
              <a:rPr sz="2500" spc="12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streamlining</a:t>
            </a:r>
            <a:r>
              <a:rPr sz="2500" spc="12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2500" spc="12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7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sz="2500" spc="12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500" spc="12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6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sz="2500" spc="12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5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productivity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8305" indent="-237490">
              <a:lnSpc>
                <a:spcPct val="100000"/>
              </a:lnSpc>
              <a:spcBef>
                <a:spcPts val="675"/>
              </a:spcBef>
              <a:buChar char="*"/>
              <a:tabLst>
                <a:tab pos="408305" algn="l"/>
              </a:tabLst>
            </a:pP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Delivers</a:t>
            </a:r>
            <a:r>
              <a:rPr sz="2500" spc="15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sz="2500" spc="15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5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r>
              <a:rPr sz="2500" spc="15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7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500" spc="15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12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500" spc="15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z="2500" spc="15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65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77333" y="-1461"/>
            <a:ext cx="8654486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50844" y="-1461"/>
            <a:ext cx="4437122" cy="979629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42227" y="415925"/>
            <a:ext cx="50038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0335" algn="l"/>
              </a:tabLst>
            </a:pPr>
            <a:r>
              <a:rPr spc="-20" dirty="0"/>
              <a:t>WORK</a:t>
            </a:r>
            <a:r>
              <a:rPr dirty="0"/>
              <a:t>	</a:t>
            </a:r>
            <a:r>
              <a:rPr spc="165" dirty="0"/>
              <a:t>DONE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8FA881-977D-341A-A368-D9FE679DCE1A}"/>
              </a:ext>
            </a:extLst>
          </p:cNvPr>
          <p:cNvSpPr txBox="1"/>
          <p:nvPr/>
        </p:nvSpPr>
        <p:spPr>
          <a:xfrm>
            <a:off x="1447800" y="1974527"/>
            <a:ext cx="99288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Frontend Development: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0E2FC6-C066-0762-A435-511478F05F50}"/>
              </a:ext>
            </a:extLst>
          </p:cNvPr>
          <p:cNvSpPr txBox="1"/>
          <p:nvPr/>
        </p:nvSpPr>
        <p:spPr>
          <a:xfrm>
            <a:off x="3260090" y="3485465"/>
            <a:ext cx="12513310" cy="5183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457200" lvl="5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Built a modern, cross-platform </a:t>
            </a:r>
            <a:r>
              <a:rPr lang="en-IN" sz="2800" b="1" dirty="0"/>
              <a:t>React Native UI</a:t>
            </a:r>
            <a:r>
              <a:rPr lang="en-IN" sz="2800" dirty="0"/>
              <a:t> with </a:t>
            </a:r>
            <a:r>
              <a:rPr lang="en-IN" sz="2800" b="1" dirty="0"/>
              <a:t>TypeScript</a:t>
            </a:r>
            <a:r>
              <a:rPr lang="en-IN" sz="2800" dirty="0"/>
              <a:t> and </a:t>
            </a:r>
            <a:r>
              <a:rPr lang="en-IN" sz="2800" b="1" dirty="0"/>
              <a:t>Expo SDK</a:t>
            </a:r>
            <a:r>
              <a:rPr lang="en-IN" sz="2800" dirty="0"/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Designed a </a:t>
            </a:r>
            <a:r>
              <a:rPr lang="en-IN" sz="2800" b="1" dirty="0"/>
              <a:t>responsive travel guide interface</a:t>
            </a:r>
            <a:r>
              <a:rPr lang="en-IN" sz="2800" dirty="0"/>
              <a:t> with smooth navigation using </a:t>
            </a:r>
            <a:r>
              <a:rPr lang="en-IN" sz="2800" b="1" dirty="0"/>
              <a:t>Expo Router</a:t>
            </a:r>
            <a:r>
              <a:rPr lang="en-IN" sz="2800" dirty="0"/>
              <a:t> and </a:t>
            </a:r>
            <a:r>
              <a:rPr lang="en-IN" sz="2800" b="1" dirty="0"/>
              <a:t>React Navigation</a:t>
            </a:r>
            <a:r>
              <a:rPr lang="en-IN" sz="2800" dirty="0"/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Implemented </a:t>
            </a:r>
            <a:r>
              <a:rPr lang="en-IN" sz="2800" b="1" dirty="0"/>
              <a:t>Google Maps integration</a:t>
            </a:r>
            <a:r>
              <a:rPr lang="en-IN" sz="2800" dirty="0"/>
              <a:t>, a </a:t>
            </a:r>
            <a:r>
              <a:rPr lang="en-IN" sz="2800" b="1" dirty="0"/>
              <a:t>carousel for featured destinations</a:t>
            </a:r>
            <a:r>
              <a:rPr lang="en-IN" sz="2800" dirty="0"/>
              <a:t>, and dynamic UI components ( </a:t>
            </a:r>
            <a:r>
              <a:rPr lang="en-IN" sz="2800" dirty="0" err="1"/>
              <a:t>Lucide</a:t>
            </a:r>
            <a:r>
              <a:rPr lang="en-IN" sz="2800" dirty="0"/>
              <a:t> Icons, gradients, animations via Moti/Reanimated).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Focused on </a:t>
            </a:r>
            <a:r>
              <a:rPr lang="en-IN" sz="2800" b="1" dirty="0"/>
              <a:t>premium UI/UX</a:t>
            </a:r>
            <a:r>
              <a:rPr lang="en-IN" sz="2800" dirty="0"/>
              <a:t> with lazy loading and a clean visual hierarchy.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D4F1DB-280F-CB91-094A-5A42E1C51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AD792CB-2D6A-E41B-74A7-671BC11EFB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77333" y="-1461"/>
            <a:ext cx="8654486" cy="1028700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F390687D-3DDD-C453-3E9E-DCDCE9244DD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50844" y="-1461"/>
            <a:ext cx="4437122" cy="97962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46A0EC0-3095-204B-39E5-3F9678938AC4}"/>
              </a:ext>
            </a:extLst>
          </p:cNvPr>
          <p:cNvSpPr txBox="1"/>
          <p:nvPr/>
        </p:nvSpPr>
        <p:spPr>
          <a:xfrm>
            <a:off x="2862580" y="2857500"/>
            <a:ext cx="11767820" cy="2600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457200" lvl="2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JSON 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local storage (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AsyncStorage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to simulate backend and booking flows.</a:t>
            </a:r>
          </a:p>
          <a:p>
            <a:pPr marL="457200" lvl="2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mock APIs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destination details and booking validation.</a:t>
            </a:r>
          </a:p>
          <a:p>
            <a:pPr marL="457200" lvl="2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live backend was used — designed as 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offline-first prototype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2C4F71-45FD-017B-16D5-7F3EE30A5ACD}"/>
              </a:ext>
            </a:extLst>
          </p:cNvPr>
          <p:cNvSpPr txBox="1"/>
          <p:nvPr/>
        </p:nvSpPr>
        <p:spPr>
          <a:xfrm>
            <a:off x="1524000" y="1540951"/>
            <a:ext cx="99288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B9E6BB-2ED0-0CEB-8E08-4F0ACE41AF7B}"/>
              </a:ext>
            </a:extLst>
          </p:cNvPr>
          <p:cNvSpPr txBox="1"/>
          <p:nvPr/>
        </p:nvSpPr>
        <p:spPr>
          <a:xfrm>
            <a:off x="1523999" y="6152535"/>
            <a:ext cx="99288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3A4C2AD-36A5-7000-CB4D-4A8AF1B0F04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874574" y="7263009"/>
            <a:ext cx="11222426" cy="1951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(VS Code)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coding, linting, and debugging.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 Go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real-time preview and live testing on mobile devices.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ESLint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Prettier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to maintain code quality and formatting.</a:t>
            </a:r>
          </a:p>
        </p:txBody>
      </p:sp>
    </p:spTree>
    <p:extLst>
      <p:ext uri="{BB962C8B-B14F-4D97-AF65-F5344CB8AC3E}">
        <p14:creationId xmlns:p14="http://schemas.microsoft.com/office/powerpoint/2010/main" val="3256916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2838E-6A86-5FE2-DBC8-BFB1129C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997881B-9683-D434-C63D-8E73EA8317E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22407" y="-1461"/>
            <a:ext cx="8654486" cy="1028700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EAF64768-B3EA-1170-2512-871DAE9AD27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50844" y="-1461"/>
            <a:ext cx="4437122" cy="9796294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A792B39D-1A2F-30F9-8132-C7213E16C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7743" y="415925"/>
            <a:ext cx="5996457" cy="1397819"/>
          </a:xfrm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Commands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5D347-03A6-F5DD-FFC7-B20B7C706F46}"/>
              </a:ext>
            </a:extLst>
          </p:cNvPr>
          <p:cNvSpPr txBox="1"/>
          <p:nvPr/>
        </p:nvSpPr>
        <p:spPr>
          <a:xfrm>
            <a:off x="1043593" y="2363523"/>
            <a:ext cx="10167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new, React Native project: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D1CF2-430A-2BC8-85BF-060041A9B9FC}"/>
              </a:ext>
            </a:extLst>
          </p:cNvPr>
          <p:cNvSpPr txBox="1"/>
          <p:nvPr/>
        </p:nvSpPr>
        <p:spPr>
          <a:xfrm>
            <a:off x="1043593" y="5374838"/>
            <a:ext cx="11377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run and view the project output with tunnel support: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F8B9E3-4268-E00E-CC52-7D5D35E65BF6}"/>
              </a:ext>
            </a:extLst>
          </p:cNvPr>
          <p:cNvSpPr/>
          <p:nvPr/>
        </p:nvSpPr>
        <p:spPr>
          <a:xfrm>
            <a:off x="4114800" y="3559633"/>
            <a:ext cx="10323452" cy="1127921"/>
          </a:xfrm>
          <a:prstGeom prst="roundRect">
            <a:avLst>
              <a:gd name="adj" fmla="val 37256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r>
              <a:rPr kumimoji="0" lang="en-GB" altLang="en-US" sz="3200" i="0" u="none" strike="noStrike" cap="none" normalizeH="0" baseline="0" dirty="0" err="1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npx</a:t>
            </a:r>
            <a:r>
              <a:rPr kumimoji="0" lang="en-GB" altLang="en-US" sz="3200" i="0" u="none" strike="noStrike" cap="none" normalizeH="0" baseline="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create-expo-app travel-guide</a:t>
            </a:r>
            <a:endParaRPr kumimoji="0" lang="en-US" altLang="en-US" sz="4400" i="0" u="none" strike="noStrike" cap="none" normalizeH="0" baseline="0" dirty="0">
              <a:ln>
                <a:solidFill>
                  <a:schemeClr val="bg1">
                    <a:lumMod val="65000"/>
                  </a:schemeClr>
                </a:solidFill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E632F9A-1C61-4557-E9E1-58370E6711F9}"/>
              </a:ext>
            </a:extLst>
          </p:cNvPr>
          <p:cNvSpPr/>
          <p:nvPr/>
        </p:nvSpPr>
        <p:spPr>
          <a:xfrm>
            <a:off x="4114800" y="6742924"/>
            <a:ext cx="10323452" cy="1127921"/>
          </a:xfrm>
          <a:prstGeom prst="roundRect">
            <a:avLst>
              <a:gd name="adj" fmla="val 3596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r>
              <a:rPr kumimoji="0" lang="en-GB" altLang="en-US" sz="3200" i="0" u="none" strike="noStrike" cap="none" normalizeH="0" baseline="0" dirty="0" err="1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npx</a:t>
            </a:r>
            <a:r>
              <a:rPr kumimoji="0" lang="en-GB" altLang="en-US" sz="3200" i="0" u="none" strike="noStrike" cap="none" normalizeH="0" baseline="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expo start --tunnel</a:t>
            </a:r>
            <a:endParaRPr kumimoji="0" lang="en-US" altLang="en-US" sz="4400" i="0" u="none" strike="noStrike" cap="none" normalizeH="0" baseline="0" dirty="0">
              <a:ln>
                <a:solidFill>
                  <a:schemeClr val="bg1">
                    <a:lumMod val="65000"/>
                  </a:schemeClr>
                </a:solidFill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27DB22-4D5A-6EE4-C16B-03B07AE09C72}"/>
              </a:ext>
            </a:extLst>
          </p:cNvPr>
          <p:cNvSpPr txBox="1"/>
          <p:nvPr/>
        </p:nvSpPr>
        <p:spPr>
          <a:xfrm>
            <a:off x="4267200" y="3355020"/>
            <a:ext cx="139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000000"/>
                </a:highlight>
              </a:rPr>
              <a:t>bash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A214C8-BAE9-B77A-7F40-E1F8AADCF7F7}"/>
              </a:ext>
            </a:extLst>
          </p:cNvPr>
          <p:cNvSpPr txBox="1"/>
          <p:nvPr/>
        </p:nvSpPr>
        <p:spPr>
          <a:xfrm>
            <a:off x="4300886" y="6558258"/>
            <a:ext cx="139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000000"/>
                </a:highlight>
              </a:rPr>
              <a:t>bash</a:t>
            </a:r>
          </a:p>
        </p:txBody>
      </p:sp>
    </p:spTree>
    <p:extLst>
      <p:ext uri="{BB962C8B-B14F-4D97-AF65-F5344CB8AC3E}">
        <p14:creationId xmlns:p14="http://schemas.microsoft.com/office/powerpoint/2010/main" val="3722090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981" y="763"/>
            <a:ext cx="7463682" cy="1028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32973" y="8929735"/>
            <a:ext cx="5954446" cy="13604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1617345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REFLECTIONS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0200" y="1840139"/>
            <a:ext cx="15427599" cy="8120941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real-world cross-platform travel guide app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React Native, TypeScript, and Expo.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modular and reusable components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(cards, carousels, booking forms) for a scalable UI.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Google Maps API and dynamic navigation flows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React Navigation &amp; Expo Router.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a clean, performance-first app structure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optimized state management via Context API and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AsyncStorage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offline-first features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caching, persistent favorites, and local data storage.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problem-solving &amp; debugging skills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handling API errors, navigation bugs, and asynchronous flows.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UI/UX skills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smooth animations using Reanimated, Linear Gradient, and Moti.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Practiced agile-style development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planning, iterating, and refining app modules.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and previewed apps on multiple devices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Expo Go for cross-platform consistency.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professional coding habits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version control with Git/GitHub, linting with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ESLint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code formatting with Prettier.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experience in documentation and presentation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(README, architecture diagrams, and feature roadmaps).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02555" y="-11478"/>
            <a:ext cx="7486569" cy="11683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853" y="0"/>
            <a:ext cx="9509146" cy="10287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2786" y="6864778"/>
            <a:ext cx="4291714" cy="34324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995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OUTPUT</a:t>
            </a:r>
          </a:p>
        </p:txBody>
      </p:sp>
      <p:pic>
        <p:nvPicPr>
          <p:cNvPr id="32" name="Picture 31" descr="A screenshot of a phone&#10;&#10;AI-generated content may be incorrect.">
            <a:extLst>
              <a:ext uri="{FF2B5EF4-FFF2-40B4-BE49-F238E27FC236}">
                <a16:creationId xmlns:a16="http://schemas.microsoft.com/office/drawing/2014/main" id="{62C11839-C983-6304-BEFF-74E7663CFB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3399" y="1409700"/>
            <a:ext cx="3445669" cy="745009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B44C882-265F-B384-B16C-DFD64E5DF552}"/>
              </a:ext>
            </a:extLst>
          </p:cNvPr>
          <p:cNvSpPr txBox="1"/>
          <p:nvPr/>
        </p:nvSpPr>
        <p:spPr>
          <a:xfrm>
            <a:off x="3359910" y="9347855"/>
            <a:ext cx="10837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a dynamically updating ‘Featured Places’ carousel.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 descr="A screenshot of a phone&#10;&#10;AI-generated content may be incorrect.">
            <a:extLst>
              <a:ext uri="{FF2B5EF4-FFF2-40B4-BE49-F238E27FC236}">
                <a16:creationId xmlns:a16="http://schemas.microsoft.com/office/drawing/2014/main" id="{60FEF843-AAC1-3E2C-8B60-6EA8B45E3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457" y="1409700"/>
            <a:ext cx="3445669" cy="745009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9D9693A1-63D8-738D-D26F-2088958F60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515" y="1409700"/>
            <a:ext cx="3445669" cy="745009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8637" y="0"/>
            <a:ext cx="17526394" cy="10287000"/>
            <a:chOff x="768637" y="0"/>
            <a:chExt cx="17526394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8845" y="0"/>
              <a:ext cx="11829155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80229" y="321693"/>
              <a:ext cx="2914802" cy="54593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637" y="8215761"/>
              <a:ext cx="6998297" cy="2071156"/>
            </a:xfrm>
            <a:prstGeom prst="rect">
              <a:avLst/>
            </a:prstGeom>
          </p:spPr>
        </p:pic>
      </p:grpSp>
      <p:pic>
        <p:nvPicPr>
          <p:cNvPr id="13" name="Picture 1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25302095-AA31-1675-F327-63F9151B7F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9886" y="1189507"/>
            <a:ext cx="3445200" cy="744067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AE6A5A5C-0720-CB7E-F1A9-D9D7E379D6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181100"/>
            <a:ext cx="3445200" cy="744908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172DC55D-C740-A38A-3490-49BECD085D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400" y="1181100"/>
            <a:ext cx="3445200" cy="744908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C2EBD3-4F45-814E-3BFD-C6F44F8D82F0}"/>
              </a:ext>
            </a:extLst>
          </p:cNvPr>
          <p:cNvSpPr txBox="1"/>
          <p:nvPr/>
        </p:nvSpPr>
        <p:spPr>
          <a:xfrm>
            <a:off x="1988310" y="9029700"/>
            <a:ext cx="145470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Page: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category-based browsing (Beaches, Food, Temples, etc.) and real-time search with instant results and clear feedback when no matches are found.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342111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7353" y="-4789"/>
            <a:ext cx="6502399" cy="2729491"/>
          </a:xfrm>
          <a:prstGeom prst="rect">
            <a:avLst/>
          </a:prstGeom>
        </p:spPr>
      </p:pic>
      <p:pic>
        <p:nvPicPr>
          <p:cNvPr id="9" name="Picture 8" descr="A screenshot of a contact us&#10;&#10;AI-generated content may be incorrect.">
            <a:extLst>
              <a:ext uri="{FF2B5EF4-FFF2-40B4-BE49-F238E27FC236}">
                <a16:creationId xmlns:a16="http://schemas.microsoft.com/office/drawing/2014/main" id="{74DBAF04-ABD8-F8A8-F685-5C86922DA0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5889" y="1328804"/>
            <a:ext cx="3445200" cy="7449077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11" name="Picture 10" descr="A screenshot of a calendar&#10;&#10;AI-generated content may be incorrect.">
            <a:extLst>
              <a:ext uri="{FF2B5EF4-FFF2-40B4-BE49-F238E27FC236}">
                <a16:creationId xmlns:a16="http://schemas.microsoft.com/office/drawing/2014/main" id="{4EFB68DB-C72A-19B3-57F9-07864873B9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668" y="1369027"/>
            <a:ext cx="3445200" cy="7449077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B0DCEEF1-8D31-3946-EF60-2944CB359F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447" y="1359956"/>
            <a:ext cx="3445200" cy="7449077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13" name="Picture 12" descr="A screenshot of a phone number&#10;&#10;AI-generated content may be incorrect.">
            <a:extLst>
              <a:ext uri="{FF2B5EF4-FFF2-40B4-BE49-F238E27FC236}">
                <a16:creationId xmlns:a16="http://schemas.microsoft.com/office/drawing/2014/main" id="{13FE9F87-B0F8-C4CE-4B72-B0F480267B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41" y="1369027"/>
            <a:ext cx="3445200" cy="7449077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4A9D403-EBF6-B6DE-7CE8-3BF6D9B281AF}"/>
              </a:ext>
            </a:extLst>
          </p:cNvPr>
          <p:cNvSpPr txBox="1"/>
          <p:nvPr/>
        </p:nvSpPr>
        <p:spPr>
          <a:xfrm>
            <a:off x="1988310" y="9029700"/>
            <a:ext cx="146994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Booking Interface: </a:t>
            </a:r>
            <a:r>
              <a:rPr lang="en-GB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Multi-step form with real-time validation, calendar integration, and confirmation feedback for seamless trip planning.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17886" y="-2396"/>
            <a:ext cx="10282555" cy="10289540"/>
            <a:chOff x="8017886" y="-2396"/>
            <a:chExt cx="10282555" cy="102895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7886" y="0"/>
              <a:ext cx="10270112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45011" y="-2396"/>
              <a:ext cx="6254828" cy="6376872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2019" y="5739614"/>
            <a:ext cx="7427073" cy="4557766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4A20D863-1C0F-BE59-0D34-0AA88F79D5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7982" y="881656"/>
            <a:ext cx="3445200" cy="744908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BC74D4DD-A32B-84C4-46E1-075DC39A53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886" y="891876"/>
            <a:ext cx="3445200" cy="744908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3" name="Picture 12" descr="A screenshot of a website&#10;&#10;AI-generated content may be incorrect.">
            <a:extLst>
              <a:ext uri="{FF2B5EF4-FFF2-40B4-BE49-F238E27FC236}">
                <a16:creationId xmlns:a16="http://schemas.microsoft.com/office/drawing/2014/main" id="{78A9944A-F39B-7F85-54C4-16D4F44C6E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790" y="890062"/>
            <a:ext cx="3445200" cy="744067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09197A-E6C8-2E95-F0CA-90252A12E5D0}"/>
              </a:ext>
            </a:extLst>
          </p:cNvPr>
          <p:cNvSpPr txBox="1"/>
          <p:nvPr/>
        </p:nvSpPr>
        <p:spPr>
          <a:xfrm>
            <a:off x="1988310" y="9029700"/>
            <a:ext cx="14699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 Bookings: </a:t>
            </a:r>
            <a:r>
              <a:rPr lang="en-GB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trip history with details and a call-to-action for new bookings.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3" y="42165"/>
            <a:ext cx="8498040" cy="67682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3535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CONCLUSION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1905000" y="1997914"/>
            <a:ext cx="14970880" cy="6906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GB" dirty="0"/>
              <a:t>The development of the </a:t>
            </a:r>
            <a:r>
              <a:rPr lang="en-GB" b="1" dirty="0"/>
              <a:t>Travel Guide App — Tamil Nadu Tourism</a:t>
            </a:r>
            <a:r>
              <a:rPr lang="en-GB" dirty="0"/>
              <a:t> was a highly valuable hands-on experience.</a:t>
            </a:r>
          </a:p>
          <a:p>
            <a:pPr marL="469900" indent="-4572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GB" dirty="0"/>
              <a:t>It allowed me to apply </a:t>
            </a:r>
            <a:r>
              <a:rPr lang="en-GB" b="1" dirty="0"/>
              <a:t>React Native, TypeScript, and Expo SDK</a:t>
            </a:r>
            <a:r>
              <a:rPr lang="en-GB" dirty="0"/>
              <a:t> in building a real-world, cross-platform mobile application.</a:t>
            </a:r>
          </a:p>
          <a:p>
            <a:pPr marL="469900" indent="-4572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GB" dirty="0"/>
              <a:t>I improved my skills in </a:t>
            </a:r>
            <a:r>
              <a:rPr lang="en-GB" b="1" dirty="0"/>
              <a:t>UI/UX design, state management (React Context), and integrating Google Maps APIs</a:t>
            </a:r>
            <a:r>
              <a:rPr lang="en-GB" dirty="0"/>
              <a:t>, while following modern mobile development workflows.</a:t>
            </a:r>
          </a:p>
          <a:p>
            <a:pPr marL="469900" indent="-4572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GB" dirty="0"/>
              <a:t>I learned how to </a:t>
            </a:r>
            <a:r>
              <a:rPr lang="en-GB" b="1" dirty="0"/>
              <a:t>structure a scalable app architecture, optimize performance, and implement persistent storage using </a:t>
            </a:r>
            <a:r>
              <a:rPr lang="en-GB" b="1" dirty="0" err="1"/>
              <a:t>AsyncStorage</a:t>
            </a:r>
            <a:r>
              <a:rPr lang="en-GB" dirty="0"/>
              <a:t>.</a:t>
            </a:r>
          </a:p>
          <a:p>
            <a:pPr marL="469900" indent="-4572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GB" dirty="0"/>
              <a:t>This project strengthened my ability to work independently, manage milestones, and deliver a polished solution — preparing me for future roles in </a:t>
            </a:r>
            <a:r>
              <a:rPr lang="en-GB" b="1" dirty="0"/>
              <a:t>mobile and full-stack development</a:t>
            </a:r>
            <a:r>
              <a:rPr lang="en-GB" dirty="0"/>
              <a:t>.</a:t>
            </a:r>
            <a:endParaRPr spc="-10" dirty="0"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" y="7467947"/>
            <a:ext cx="6148709" cy="28250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ACKNOWLEDGEMENT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97833" y="8876183"/>
            <a:ext cx="2990166" cy="14108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5559" y="1833244"/>
            <a:ext cx="16656050" cy="8043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5" dirty="0">
                <a:solidFill>
                  <a:srgbClr val="004AAC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65" dirty="0">
                <a:solidFill>
                  <a:srgbClr val="004AAC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20" dirty="0">
                <a:solidFill>
                  <a:srgbClr val="004AAC"/>
                </a:solidFill>
                <a:latin typeface="Arial MT"/>
                <a:cs typeface="Arial MT"/>
              </a:rPr>
              <a:t>outset,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004AAC"/>
                </a:solidFill>
                <a:latin typeface="Arial MT"/>
                <a:cs typeface="Arial MT"/>
              </a:rPr>
              <a:t>sincerely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14" dirty="0">
                <a:solidFill>
                  <a:srgbClr val="004AAC"/>
                </a:solidFill>
                <a:latin typeface="Arial MT"/>
                <a:cs typeface="Arial MT"/>
              </a:rPr>
              <a:t>thank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65" dirty="0">
                <a:solidFill>
                  <a:srgbClr val="004AAC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25" dirty="0">
                <a:solidFill>
                  <a:srgbClr val="004AAC"/>
                </a:solidFill>
                <a:latin typeface="Arial MT"/>
                <a:cs typeface="Arial MT"/>
              </a:rPr>
              <a:t>Almighty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95" dirty="0">
                <a:solidFill>
                  <a:srgbClr val="004AAC"/>
                </a:solidFill>
                <a:latin typeface="Arial MT"/>
                <a:cs typeface="Arial MT"/>
              </a:rPr>
              <a:t>for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His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004AAC"/>
                </a:solidFill>
                <a:latin typeface="Arial MT"/>
                <a:cs typeface="Arial MT"/>
              </a:rPr>
              <a:t>blessings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20" dirty="0">
                <a:solidFill>
                  <a:srgbClr val="004AAC"/>
                </a:solidFill>
                <a:latin typeface="Arial MT"/>
                <a:cs typeface="Arial MT"/>
              </a:rPr>
              <a:t>in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004AAC"/>
                </a:solidFill>
                <a:latin typeface="Arial MT"/>
                <a:cs typeface="Arial MT"/>
              </a:rPr>
              <a:t>helping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14" dirty="0">
                <a:solidFill>
                  <a:srgbClr val="004AAC"/>
                </a:solidFill>
                <a:latin typeface="Arial MT"/>
                <a:cs typeface="Arial MT"/>
              </a:rPr>
              <a:t>me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004AAC"/>
                </a:solidFill>
                <a:latin typeface="Arial MT"/>
                <a:cs typeface="Arial MT"/>
              </a:rPr>
              <a:t>successfully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45" dirty="0">
                <a:solidFill>
                  <a:srgbClr val="004AAC"/>
                </a:solidFill>
                <a:latin typeface="Arial MT"/>
                <a:cs typeface="Arial MT"/>
              </a:rPr>
              <a:t>complete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75" dirty="0">
                <a:solidFill>
                  <a:srgbClr val="004AAC"/>
                </a:solidFill>
                <a:latin typeface="Arial MT"/>
                <a:cs typeface="Arial MT"/>
              </a:rPr>
              <a:t>my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004AAC"/>
                </a:solidFill>
                <a:latin typeface="Arial MT"/>
                <a:cs typeface="Arial MT"/>
              </a:rPr>
              <a:t>internship.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114599"/>
              </a:lnSpc>
              <a:spcBef>
                <a:spcPts val="5"/>
              </a:spcBef>
            </a:pPr>
            <a:r>
              <a:rPr sz="2400" spc="50" dirty="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20" dirty="0">
                <a:solidFill>
                  <a:srgbClr val="004AAC"/>
                </a:solidFill>
                <a:latin typeface="Arial MT"/>
                <a:cs typeface="Arial MT"/>
              </a:rPr>
              <a:t>extend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75" dirty="0">
                <a:solidFill>
                  <a:srgbClr val="004AAC"/>
                </a:solidFill>
                <a:latin typeface="Arial MT"/>
                <a:cs typeface="Arial MT"/>
              </a:rPr>
              <a:t>my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60" dirty="0">
                <a:solidFill>
                  <a:srgbClr val="004AAC"/>
                </a:solidFill>
                <a:latin typeface="Arial MT"/>
                <a:cs typeface="Arial MT"/>
              </a:rPr>
              <a:t>heartfelt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45" dirty="0">
                <a:solidFill>
                  <a:srgbClr val="004AAC"/>
                </a:solidFill>
                <a:latin typeface="Arial MT"/>
                <a:cs typeface="Arial MT"/>
              </a:rPr>
              <a:t>gratitude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229" dirty="0">
                <a:solidFill>
                  <a:srgbClr val="004AAC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50" dirty="0">
                <a:solidFill>
                  <a:srgbClr val="004AAC"/>
                </a:solidFill>
                <a:latin typeface="Arial MT"/>
                <a:cs typeface="Arial MT"/>
              </a:rPr>
              <a:t>our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004AAC"/>
                </a:solidFill>
                <a:latin typeface="Arial MT"/>
                <a:cs typeface="Arial MT"/>
              </a:rPr>
              <a:t>Principal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004AAC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004AAC"/>
                </a:solidFill>
                <a:latin typeface="Arial MT"/>
                <a:cs typeface="Arial MT"/>
              </a:rPr>
              <a:t>Secretary,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004AAC"/>
                </a:solidFill>
                <a:latin typeface="Arial MT"/>
                <a:cs typeface="Arial MT"/>
              </a:rPr>
              <a:t>Dr.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004AAC"/>
                </a:solidFill>
                <a:latin typeface="Arial MT"/>
                <a:cs typeface="Arial MT"/>
              </a:rPr>
              <a:t>Beulah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004AAC"/>
                </a:solidFill>
                <a:latin typeface="Arial MT"/>
                <a:cs typeface="Arial MT"/>
              </a:rPr>
              <a:t>Jeyashree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R.,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M.A.,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004AAC"/>
                </a:solidFill>
                <a:latin typeface="Arial MT"/>
                <a:cs typeface="Arial MT"/>
              </a:rPr>
              <a:t>M.Phil.,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Ph.D.,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95" dirty="0">
                <a:solidFill>
                  <a:srgbClr val="004AAC"/>
                </a:solidFill>
                <a:latin typeface="Arial MT"/>
                <a:cs typeface="Arial MT"/>
              </a:rPr>
              <a:t>for</a:t>
            </a:r>
            <a:r>
              <a:rPr sz="2400" spc="-6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0" dirty="0">
                <a:solidFill>
                  <a:srgbClr val="004AAC"/>
                </a:solidFill>
                <a:latin typeface="Arial MT"/>
                <a:cs typeface="Arial MT"/>
              </a:rPr>
              <a:t>her </a:t>
            </a:r>
            <a:r>
              <a:rPr sz="2400" spc="135" dirty="0">
                <a:solidFill>
                  <a:srgbClr val="004AAC"/>
                </a:solidFill>
                <a:latin typeface="Arial MT"/>
                <a:cs typeface="Arial MT"/>
              </a:rPr>
              <a:t>continuous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70" dirty="0">
                <a:solidFill>
                  <a:srgbClr val="004AAC"/>
                </a:solidFill>
                <a:latin typeface="Arial MT"/>
                <a:cs typeface="Arial MT"/>
              </a:rPr>
              <a:t>support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004AAC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004AAC"/>
                </a:solidFill>
                <a:latin typeface="Arial MT"/>
                <a:cs typeface="Arial MT"/>
              </a:rPr>
              <a:t>encouragement.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400" dirty="0">
              <a:latin typeface="Arial MT"/>
              <a:cs typeface="Arial MT"/>
            </a:endParaRPr>
          </a:p>
          <a:p>
            <a:pPr marL="12700" marR="839469">
              <a:lnSpc>
                <a:spcPct val="114599"/>
              </a:lnSpc>
              <a:spcBef>
                <a:spcPts val="5"/>
              </a:spcBef>
            </a:pPr>
            <a:r>
              <a:rPr sz="2400" spc="50" dirty="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0" dirty="0">
                <a:solidFill>
                  <a:srgbClr val="004AAC"/>
                </a:solidFill>
                <a:latin typeface="Arial MT"/>
                <a:cs typeface="Arial MT"/>
              </a:rPr>
              <a:t>am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25" dirty="0">
                <a:solidFill>
                  <a:srgbClr val="004AAC"/>
                </a:solidFill>
                <a:latin typeface="Arial MT"/>
                <a:cs typeface="Arial MT"/>
              </a:rPr>
              <a:t>deeply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45" dirty="0">
                <a:solidFill>
                  <a:srgbClr val="004AAC"/>
                </a:solidFill>
                <a:latin typeface="Arial MT"/>
                <a:cs typeface="Arial MT"/>
              </a:rPr>
              <a:t>thankful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229" dirty="0">
                <a:solidFill>
                  <a:srgbClr val="004AAC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004AAC"/>
                </a:solidFill>
                <a:latin typeface="Arial MT"/>
                <a:cs typeface="Arial MT"/>
              </a:rPr>
              <a:t>Dr.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N.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004AAC"/>
                </a:solidFill>
                <a:latin typeface="Arial MT"/>
                <a:cs typeface="Arial MT"/>
              </a:rPr>
              <a:t>Jayachandra,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M.Sc.,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004AAC"/>
                </a:solidFill>
                <a:latin typeface="Arial MT"/>
                <a:cs typeface="Arial MT"/>
              </a:rPr>
              <a:t>M.Phil.,</a:t>
            </a:r>
            <a:r>
              <a:rPr sz="2400" spc="-5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Ph.D.,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004AAC"/>
                </a:solidFill>
                <a:latin typeface="Arial MT"/>
                <a:cs typeface="Arial MT"/>
              </a:rPr>
              <a:t>Head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&amp;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004AAC"/>
                </a:solidFill>
                <a:latin typeface="Arial MT"/>
                <a:cs typeface="Arial MT"/>
              </a:rPr>
              <a:t>Associate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004AAC"/>
                </a:solidFill>
                <a:latin typeface="Arial MT"/>
                <a:cs typeface="Arial MT"/>
              </a:rPr>
              <a:t>Professor,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50" dirty="0">
                <a:solidFill>
                  <a:srgbClr val="004AAC"/>
                </a:solidFill>
                <a:latin typeface="Arial MT"/>
                <a:cs typeface="Arial MT"/>
              </a:rPr>
              <a:t>Department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75" dirty="0">
                <a:solidFill>
                  <a:srgbClr val="004AAC"/>
                </a:solidFill>
                <a:latin typeface="Arial MT"/>
                <a:cs typeface="Arial MT"/>
              </a:rPr>
              <a:t>of </a:t>
            </a:r>
            <a:r>
              <a:rPr sz="2400" spc="145" dirty="0">
                <a:solidFill>
                  <a:srgbClr val="004AAC"/>
                </a:solidFill>
                <a:latin typeface="Arial MT"/>
                <a:cs typeface="Arial MT"/>
              </a:rPr>
              <a:t>Computer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Science,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95" dirty="0">
                <a:solidFill>
                  <a:srgbClr val="004AAC"/>
                </a:solidFill>
                <a:latin typeface="Arial MT"/>
                <a:cs typeface="Arial MT"/>
              </a:rPr>
              <a:t>for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25" dirty="0">
                <a:solidFill>
                  <a:srgbClr val="004AAC"/>
                </a:solidFill>
                <a:latin typeface="Arial MT"/>
                <a:cs typeface="Arial MT"/>
              </a:rPr>
              <a:t>her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0" dirty="0">
                <a:solidFill>
                  <a:srgbClr val="004AAC"/>
                </a:solidFill>
                <a:latin typeface="Arial MT"/>
                <a:cs typeface="Arial MT"/>
              </a:rPr>
              <a:t>valuable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004AAC"/>
                </a:solidFill>
                <a:latin typeface="Arial MT"/>
                <a:cs typeface="Arial MT"/>
              </a:rPr>
              <a:t>guidance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60" dirty="0">
                <a:solidFill>
                  <a:srgbClr val="004AAC"/>
                </a:solidFill>
                <a:latin typeface="Arial MT"/>
                <a:cs typeface="Arial MT"/>
              </a:rPr>
              <a:t>throughout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65" dirty="0">
                <a:solidFill>
                  <a:srgbClr val="004AAC"/>
                </a:solidFill>
                <a:latin typeface="Arial MT"/>
                <a:cs typeface="Arial MT"/>
              </a:rPr>
              <a:t>the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004AAC"/>
                </a:solidFill>
                <a:latin typeface="Arial MT"/>
                <a:cs typeface="Arial MT"/>
              </a:rPr>
              <a:t>internship.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400" dirty="0">
              <a:latin typeface="Arial MT"/>
              <a:cs typeface="Arial MT"/>
            </a:endParaRPr>
          </a:p>
          <a:p>
            <a:pPr marL="12700" marR="532130">
              <a:lnSpc>
                <a:spcPct val="114599"/>
              </a:lnSpc>
              <a:spcBef>
                <a:spcPts val="5"/>
              </a:spcBef>
            </a:pPr>
            <a:r>
              <a:rPr sz="2400" spc="50" dirty="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004AAC"/>
                </a:solidFill>
                <a:latin typeface="Arial MT"/>
                <a:cs typeface="Arial MT"/>
              </a:rPr>
              <a:t>also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14" dirty="0">
                <a:solidFill>
                  <a:srgbClr val="004AAC"/>
                </a:solidFill>
                <a:latin typeface="Arial MT"/>
                <a:cs typeface="Arial MT"/>
              </a:rPr>
              <a:t>thank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004AAC"/>
                </a:solidFill>
                <a:latin typeface="Arial MT"/>
                <a:cs typeface="Arial MT"/>
              </a:rPr>
              <a:t>Dr.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T.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-100" dirty="0">
                <a:solidFill>
                  <a:srgbClr val="004AAC"/>
                </a:solidFill>
                <a:latin typeface="Arial MT"/>
                <a:cs typeface="Arial MT"/>
              </a:rPr>
              <a:t>R.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004AAC"/>
                </a:solidFill>
                <a:latin typeface="Arial MT"/>
                <a:cs typeface="Arial MT"/>
              </a:rPr>
              <a:t>Sivapriya,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M.C.A.,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004AAC"/>
                </a:solidFill>
                <a:latin typeface="Arial MT"/>
                <a:cs typeface="Arial MT"/>
              </a:rPr>
              <a:t>M.Phil.,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Ph.D.,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35" dirty="0">
                <a:solidFill>
                  <a:srgbClr val="004AAC"/>
                </a:solidFill>
                <a:latin typeface="Arial MT"/>
                <a:cs typeface="Arial MT"/>
              </a:rPr>
              <a:t>Coordinator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95" dirty="0">
                <a:solidFill>
                  <a:srgbClr val="004AAC"/>
                </a:solidFill>
                <a:latin typeface="Arial MT"/>
                <a:cs typeface="Arial MT"/>
              </a:rPr>
              <a:t>for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B.Sc.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50" dirty="0">
                <a:solidFill>
                  <a:srgbClr val="004AAC"/>
                </a:solidFill>
                <a:latin typeface="Arial MT"/>
                <a:cs typeface="Arial MT"/>
              </a:rPr>
              <a:t>Information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004AAC"/>
                </a:solidFill>
                <a:latin typeface="Arial MT"/>
                <a:cs typeface="Arial MT"/>
              </a:rPr>
              <a:t>Technology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&amp;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004AAC"/>
                </a:solidFill>
                <a:latin typeface="Arial MT"/>
                <a:cs typeface="Arial MT"/>
              </a:rPr>
              <a:t>Associate </a:t>
            </a:r>
            <a:r>
              <a:rPr sz="2400" spc="85" dirty="0">
                <a:solidFill>
                  <a:srgbClr val="004AAC"/>
                </a:solidFill>
                <a:latin typeface="Arial MT"/>
                <a:cs typeface="Arial MT"/>
              </a:rPr>
              <a:t>Professor,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50" dirty="0">
                <a:solidFill>
                  <a:srgbClr val="004AAC"/>
                </a:solidFill>
                <a:latin typeface="Arial MT"/>
                <a:cs typeface="Arial MT"/>
              </a:rPr>
              <a:t>Department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200" dirty="0">
                <a:solidFill>
                  <a:srgbClr val="004AAC"/>
                </a:solidFill>
                <a:latin typeface="Arial MT"/>
                <a:cs typeface="Arial MT"/>
              </a:rPr>
              <a:t>of</a:t>
            </a:r>
            <a:r>
              <a:rPr sz="2400" spc="-2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45" dirty="0">
                <a:solidFill>
                  <a:srgbClr val="004AAC"/>
                </a:solidFill>
                <a:latin typeface="Arial MT"/>
                <a:cs typeface="Arial MT"/>
              </a:rPr>
              <a:t>Computer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Science,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95" dirty="0">
                <a:solidFill>
                  <a:srgbClr val="004AAC"/>
                </a:solidFill>
                <a:latin typeface="Arial MT"/>
                <a:cs typeface="Arial MT"/>
              </a:rPr>
              <a:t>for</a:t>
            </a:r>
            <a:r>
              <a:rPr sz="2400" spc="-2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25" dirty="0">
                <a:solidFill>
                  <a:srgbClr val="004AAC"/>
                </a:solidFill>
                <a:latin typeface="Arial MT"/>
                <a:cs typeface="Arial MT"/>
              </a:rPr>
              <a:t>her</a:t>
            </a:r>
            <a:r>
              <a:rPr sz="2400" spc="-3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50" dirty="0">
                <a:solidFill>
                  <a:srgbClr val="004AAC"/>
                </a:solidFill>
                <a:latin typeface="Arial MT"/>
                <a:cs typeface="Arial MT"/>
              </a:rPr>
              <a:t>continued</a:t>
            </a:r>
            <a:r>
              <a:rPr sz="2400" spc="-2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004AAC"/>
                </a:solidFill>
                <a:latin typeface="Arial MT"/>
                <a:cs typeface="Arial MT"/>
              </a:rPr>
              <a:t>support.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400" dirty="0">
              <a:latin typeface="Arial MT"/>
              <a:cs typeface="Arial MT"/>
            </a:endParaRPr>
          </a:p>
          <a:p>
            <a:pPr marL="12700" marR="234315">
              <a:lnSpc>
                <a:spcPct val="114599"/>
              </a:lnSpc>
              <a:spcBef>
                <a:spcPts val="5"/>
              </a:spcBef>
            </a:pPr>
            <a:r>
              <a:rPr sz="2400" spc="160" dirty="0">
                <a:solidFill>
                  <a:srgbClr val="004AAC"/>
                </a:solidFill>
                <a:latin typeface="Arial MT"/>
                <a:cs typeface="Arial MT"/>
              </a:rPr>
              <a:t>My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004AAC"/>
                </a:solidFill>
                <a:latin typeface="Arial MT"/>
                <a:cs typeface="Arial MT"/>
              </a:rPr>
              <a:t>sincere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90" dirty="0">
                <a:solidFill>
                  <a:srgbClr val="004AAC"/>
                </a:solidFill>
                <a:latin typeface="Arial MT"/>
                <a:cs typeface="Arial MT"/>
              </a:rPr>
              <a:t>thanks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229" dirty="0">
                <a:solidFill>
                  <a:srgbClr val="004AAC"/>
                </a:solidFill>
                <a:latin typeface="Arial MT"/>
                <a:cs typeface="Arial MT"/>
              </a:rPr>
              <a:t>to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65" dirty="0">
                <a:solidFill>
                  <a:srgbClr val="004AAC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004AAC"/>
                </a:solidFill>
                <a:latin typeface="Arial MT"/>
                <a:cs typeface="Arial MT"/>
              </a:rPr>
              <a:t>management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004AAC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004AAC"/>
                </a:solidFill>
                <a:latin typeface="Arial MT"/>
                <a:cs typeface="Arial MT"/>
              </a:rPr>
              <a:t>team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200" dirty="0">
                <a:solidFill>
                  <a:srgbClr val="004AAC"/>
                </a:solidFill>
                <a:latin typeface="Arial MT"/>
                <a:cs typeface="Arial MT"/>
              </a:rPr>
              <a:t>of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70" dirty="0">
                <a:solidFill>
                  <a:srgbClr val="004AAC"/>
                </a:solidFill>
                <a:latin typeface="Arial MT"/>
                <a:cs typeface="Arial MT"/>
              </a:rPr>
              <a:t>Dot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004AAC"/>
                </a:solidFill>
                <a:latin typeface="Arial MT"/>
                <a:cs typeface="Arial MT"/>
              </a:rPr>
              <a:t>Com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004AAC"/>
                </a:solidFill>
                <a:latin typeface="Arial MT"/>
                <a:cs typeface="Arial MT"/>
              </a:rPr>
              <a:t>Infoway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(DCI)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95" dirty="0">
                <a:solidFill>
                  <a:srgbClr val="004AAC"/>
                </a:solidFill>
                <a:latin typeface="Arial MT"/>
                <a:cs typeface="Arial MT"/>
              </a:rPr>
              <a:t>for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40" dirty="0">
                <a:solidFill>
                  <a:srgbClr val="004AAC"/>
                </a:solidFill>
                <a:latin typeface="Arial MT"/>
                <a:cs typeface="Arial MT"/>
              </a:rPr>
              <a:t>providing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a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004AAC"/>
                </a:solidFill>
                <a:latin typeface="Arial MT"/>
                <a:cs typeface="Arial MT"/>
              </a:rPr>
              <a:t>positive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004AAC"/>
                </a:solidFill>
                <a:latin typeface="Arial MT"/>
                <a:cs typeface="Arial MT"/>
              </a:rPr>
              <a:t>and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004AAC"/>
                </a:solidFill>
                <a:latin typeface="Arial MT"/>
                <a:cs typeface="Arial MT"/>
              </a:rPr>
              <a:t>enriching learning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004AAC"/>
                </a:solidFill>
                <a:latin typeface="Arial MT"/>
                <a:cs typeface="Arial MT"/>
              </a:rPr>
              <a:t>experience.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400" dirty="0">
              <a:latin typeface="Arial MT"/>
              <a:cs typeface="Arial MT"/>
            </a:endParaRPr>
          </a:p>
          <a:p>
            <a:pPr marL="12700" marR="1286510">
              <a:lnSpc>
                <a:spcPct val="114599"/>
              </a:lnSpc>
            </a:pPr>
            <a:r>
              <a:rPr sz="2400" spc="50" dirty="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004AAC"/>
                </a:solidFill>
                <a:latin typeface="Arial MT"/>
                <a:cs typeface="Arial MT"/>
              </a:rPr>
              <a:t>express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75" dirty="0">
                <a:solidFill>
                  <a:srgbClr val="004AAC"/>
                </a:solidFill>
                <a:latin typeface="Arial MT"/>
                <a:cs typeface="Arial MT"/>
              </a:rPr>
              <a:t>my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45" dirty="0">
                <a:solidFill>
                  <a:srgbClr val="004AAC"/>
                </a:solidFill>
                <a:latin typeface="Arial MT"/>
                <a:cs typeface="Arial MT"/>
              </a:rPr>
              <a:t>gratitude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229" dirty="0">
                <a:solidFill>
                  <a:srgbClr val="004AAC"/>
                </a:solidFill>
                <a:latin typeface="Arial MT"/>
                <a:cs typeface="Arial MT"/>
              </a:rPr>
              <a:t>to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75" dirty="0">
                <a:solidFill>
                  <a:srgbClr val="004AAC"/>
                </a:solidFill>
                <a:latin typeface="Arial MT"/>
                <a:cs typeface="Arial MT"/>
              </a:rPr>
              <a:t>my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35" dirty="0">
                <a:solidFill>
                  <a:srgbClr val="004AAC"/>
                </a:solidFill>
                <a:latin typeface="Arial MT"/>
                <a:cs typeface="Arial MT"/>
              </a:rPr>
              <a:t>internship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35" dirty="0">
                <a:solidFill>
                  <a:srgbClr val="004AAC"/>
                </a:solidFill>
                <a:latin typeface="Arial MT"/>
                <a:cs typeface="Arial MT"/>
              </a:rPr>
              <a:t>mentor,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lang="en-IN" sz="2400" dirty="0">
                <a:solidFill>
                  <a:srgbClr val="004AAC"/>
                </a:solidFill>
                <a:latin typeface="Arial MT"/>
                <a:cs typeface="Arial MT"/>
              </a:rPr>
              <a:t>Dr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.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004AAC"/>
                </a:solidFill>
                <a:latin typeface="Arial MT"/>
                <a:cs typeface="Arial MT"/>
              </a:rPr>
              <a:t>Sudhasini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4AAC"/>
                </a:solidFill>
                <a:latin typeface="Arial MT"/>
                <a:cs typeface="Arial MT"/>
              </a:rPr>
              <a:t>P.,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M.S.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4AAC"/>
                </a:solidFill>
                <a:latin typeface="Arial MT"/>
                <a:cs typeface="Arial MT"/>
              </a:rPr>
              <a:t>(IT),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M.B.A.,</a:t>
            </a:r>
            <a:r>
              <a:rPr sz="2400" spc="-7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004AAC"/>
                </a:solidFill>
                <a:latin typeface="Arial MT"/>
                <a:cs typeface="Arial MT"/>
              </a:rPr>
              <a:t>M.Phil.,</a:t>
            </a:r>
            <a:r>
              <a:rPr sz="2400" spc="-7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004AAC"/>
                </a:solidFill>
                <a:latin typeface="Arial MT"/>
                <a:cs typeface="Arial MT"/>
              </a:rPr>
              <a:t>Ph.D.,Assistant </a:t>
            </a:r>
            <a:r>
              <a:rPr sz="2400" spc="85" dirty="0">
                <a:solidFill>
                  <a:srgbClr val="004AAC"/>
                </a:solidFill>
                <a:latin typeface="Arial MT"/>
                <a:cs typeface="Arial MT"/>
              </a:rPr>
              <a:t>Professor,</a:t>
            </a:r>
            <a:r>
              <a:rPr sz="2400" spc="-2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50" dirty="0">
                <a:solidFill>
                  <a:srgbClr val="004AAC"/>
                </a:solidFill>
                <a:latin typeface="Arial MT"/>
                <a:cs typeface="Arial MT"/>
              </a:rPr>
              <a:t>Department</a:t>
            </a:r>
            <a:r>
              <a:rPr sz="2400" spc="-2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200" dirty="0">
                <a:solidFill>
                  <a:srgbClr val="004AAC"/>
                </a:solidFill>
                <a:latin typeface="Arial MT"/>
                <a:cs typeface="Arial MT"/>
              </a:rPr>
              <a:t>of</a:t>
            </a:r>
            <a:r>
              <a:rPr sz="2400" spc="-2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45" dirty="0">
                <a:solidFill>
                  <a:srgbClr val="004AAC"/>
                </a:solidFill>
                <a:latin typeface="Arial MT"/>
                <a:cs typeface="Arial MT"/>
              </a:rPr>
              <a:t>Computer</a:t>
            </a:r>
            <a:r>
              <a:rPr sz="2400" spc="-2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Science,</a:t>
            </a:r>
            <a:r>
              <a:rPr sz="2400" spc="-2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95" dirty="0">
                <a:solidFill>
                  <a:srgbClr val="004AAC"/>
                </a:solidFill>
                <a:latin typeface="Arial MT"/>
                <a:cs typeface="Arial MT"/>
              </a:rPr>
              <a:t>for</a:t>
            </a:r>
            <a:r>
              <a:rPr sz="2400" spc="-2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25" dirty="0">
                <a:solidFill>
                  <a:srgbClr val="004AAC"/>
                </a:solidFill>
                <a:latin typeface="Arial MT"/>
                <a:cs typeface="Arial MT"/>
              </a:rPr>
              <a:t>her</a:t>
            </a:r>
            <a:r>
              <a:rPr sz="2400" spc="-2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45" dirty="0">
                <a:solidFill>
                  <a:srgbClr val="004AAC"/>
                </a:solidFill>
                <a:latin typeface="Arial MT"/>
                <a:cs typeface="Arial MT"/>
              </a:rPr>
              <a:t>constructive</a:t>
            </a:r>
            <a:r>
              <a:rPr sz="2400" spc="-2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004AAC"/>
                </a:solidFill>
                <a:latin typeface="Arial MT"/>
                <a:cs typeface="Arial MT"/>
              </a:rPr>
              <a:t>guidance.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400" dirty="0">
              <a:latin typeface="Arial MT"/>
              <a:cs typeface="Arial MT"/>
            </a:endParaRPr>
          </a:p>
          <a:p>
            <a:pPr marL="12700" marR="78740">
              <a:lnSpc>
                <a:spcPct val="114599"/>
              </a:lnSpc>
            </a:pPr>
            <a:r>
              <a:rPr sz="2400" spc="75" dirty="0">
                <a:solidFill>
                  <a:srgbClr val="004AAC"/>
                </a:solidFill>
                <a:latin typeface="Arial MT"/>
                <a:cs typeface="Arial MT"/>
              </a:rPr>
              <a:t>Finally,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14" dirty="0">
                <a:solidFill>
                  <a:srgbClr val="004AAC"/>
                </a:solidFill>
                <a:latin typeface="Arial MT"/>
                <a:cs typeface="Arial MT"/>
              </a:rPr>
              <a:t>thank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0" dirty="0">
                <a:solidFill>
                  <a:srgbClr val="004AAC"/>
                </a:solidFill>
                <a:latin typeface="Arial MT"/>
                <a:cs typeface="Arial MT"/>
              </a:rPr>
              <a:t>all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65" dirty="0">
                <a:solidFill>
                  <a:srgbClr val="004AAC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55" dirty="0">
                <a:solidFill>
                  <a:srgbClr val="004AAC"/>
                </a:solidFill>
                <a:latin typeface="Arial MT"/>
                <a:cs typeface="Arial MT"/>
              </a:rPr>
              <a:t>faculty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004AAC"/>
                </a:solidFill>
                <a:latin typeface="Arial MT"/>
                <a:cs typeface="Arial MT"/>
              </a:rPr>
              <a:t>members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200" dirty="0">
                <a:solidFill>
                  <a:srgbClr val="004AAC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65" dirty="0">
                <a:solidFill>
                  <a:srgbClr val="004AAC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50" dirty="0">
                <a:solidFill>
                  <a:srgbClr val="004AAC"/>
                </a:solidFill>
                <a:latin typeface="Arial MT"/>
                <a:cs typeface="Arial MT"/>
              </a:rPr>
              <a:t>Department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200" dirty="0">
                <a:solidFill>
                  <a:srgbClr val="004AAC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45" dirty="0">
                <a:solidFill>
                  <a:srgbClr val="004AAC"/>
                </a:solidFill>
                <a:latin typeface="Arial MT"/>
                <a:cs typeface="Arial MT"/>
              </a:rPr>
              <a:t>Computer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4AAC"/>
                </a:solidFill>
                <a:latin typeface="Arial MT"/>
                <a:cs typeface="Arial MT"/>
              </a:rPr>
              <a:t>Science,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75" dirty="0">
                <a:solidFill>
                  <a:srgbClr val="004AAC"/>
                </a:solidFill>
                <a:latin typeface="Arial MT"/>
                <a:cs typeface="Arial MT"/>
              </a:rPr>
              <a:t>my</a:t>
            </a:r>
            <a:r>
              <a:rPr sz="2400" spc="-4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004AAC"/>
                </a:solidFill>
                <a:latin typeface="Arial MT"/>
                <a:cs typeface="Arial MT"/>
              </a:rPr>
              <a:t>parents,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004AAC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004AAC"/>
                </a:solidFill>
                <a:latin typeface="Arial MT"/>
                <a:cs typeface="Arial MT"/>
              </a:rPr>
              <a:t>friends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95" dirty="0">
                <a:solidFill>
                  <a:srgbClr val="004AAC"/>
                </a:solidFill>
                <a:latin typeface="Arial MT"/>
                <a:cs typeface="Arial MT"/>
              </a:rPr>
              <a:t>for</a:t>
            </a:r>
            <a:r>
              <a:rPr sz="2400" spc="-5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45" dirty="0">
                <a:solidFill>
                  <a:srgbClr val="004AAC"/>
                </a:solidFill>
                <a:latin typeface="Arial MT"/>
                <a:cs typeface="Arial MT"/>
              </a:rPr>
              <a:t>their constant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60" dirty="0">
                <a:solidFill>
                  <a:srgbClr val="004AAC"/>
                </a:solidFill>
                <a:latin typeface="Arial MT"/>
                <a:cs typeface="Arial MT"/>
              </a:rPr>
              <a:t>motivation</a:t>
            </a:r>
            <a:r>
              <a:rPr sz="2400" spc="-55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004AAC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004AAC"/>
                </a:solidFill>
                <a:latin typeface="Arial MT"/>
                <a:cs typeface="Arial MT"/>
              </a:rPr>
              <a:t>support.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498040" cy="67682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67113" y="4465669"/>
            <a:ext cx="1179830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63135" algn="l"/>
                <a:tab pos="6851015" algn="l"/>
              </a:tabLst>
            </a:pPr>
            <a:r>
              <a:rPr sz="11200" i="1" spc="-10" dirty="0">
                <a:latin typeface="Times New Roman"/>
                <a:cs typeface="Times New Roman"/>
              </a:rPr>
              <a:t>Thanks</a:t>
            </a:r>
            <a:r>
              <a:rPr sz="11200" i="1" dirty="0">
                <a:latin typeface="Times New Roman"/>
                <a:cs typeface="Times New Roman"/>
              </a:rPr>
              <a:t>	</a:t>
            </a:r>
            <a:r>
              <a:rPr sz="11200" i="1" spc="-25" dirty="0">
                <a:latin typeface="Times New Roman"/>
                <a:cs typeface="Times New Roman"/>
              </a:rPr>
              <a:t>for</a:t>
            </a:r>
            <a:r>
              <a:rPr sz="11200" i="1" dirty="0">
                <a:latin typeface="Times New Roman"/>
                <a:cs typeface="Times New Roman"/>
              </a:rPr>
              <a:t>	</a:t>
            </a:r>
            <a:r>
              <a:rPr sz="11200" i="1" spc="-110" dirty="0">
                <a:latin typeface="Times New Roman"/>
                <a:cs typeface="Times New Roman"/>
              </a:rPr>
              <a:t>listening</a:t>
            </a:r>
            <a:endParaRPr sz="1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989</Words>
  <Application>Microsoft Office PowerPoint</Application>
  <PresentationFormat>Custom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MT</vt:lpstr>
      <vt:lpstr>Courier New</vt:lpstr>
      <vt:lpstr>Times New Roman</vt:lpstr>
      <vt:lpstr>Wingdings</vt:lpstr>
      <vt:lpstr>Office Theme</vt:lpstr>
      <vt:lpstr>INTERNSHIP ON</vt:lpstr>
      <vt:lpstr>CONTENT</vt:lpstr>
      <vt:lpstr>ABOUT COMPANY</vt:lpstr>
      <vt:lpstr>WORK DONE</vt:lpstr>
      <vt:lpstr>PowerPoint Presentation</vt:lpstr>
      <vt:lpstr>Commands Used</vt:lpstr>
      <vt:lpstr>REFLECTIONS</vt:lpstr>
      <vt:lpstr>OUTPUT</vt:lpstr>
      <vt:lpstr>PowerPoint Presentation</vt:lpstr>
      <vt:lpstr>PowerPoint Presentation</vt:lpstr>
      <vt:lpstr>PowerPoint Presentation</vt:lpstr>
      <vt:lpstr>CONCLUSION</vt:lpstr>
      <vt:lpstr>ACKNOWLEDGEMENT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pragadeesh s</dc:creator>
  <cp:lastModifiedBy>pragadeesh s</cp:lastModifiedBy>
  <cp:revision>3</cp:revision>
  <dcterms:created xsi:type="dcterms:W3CDTF">2025-07-20T05:53:53Z</dcterms:created>
  <dcterms:modified xsi:type="dcterms:W3CDTF">2025-07-20T10:13:29Z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2025-07-20T00:00:00Z</vt:filetime>
  </property>
  <property fmtid="{D5CDD505-2E9C-101B-9397-08002B2CF9AE}" pid="3" name="Creator">
    <vt:lpwstr>Samsung Electronics</vt:lpwstr>
  </property>
  <property fmtid="{D5CDD505-2E9C-101B-9397-08002B2CF9AE}" pid="4" name="LastSaved">
    <vt:filetime>2025-07-20T00:00:00Z</vt:filetime>
  </property>
  <property fmtid="{D5CDD505-2E9C-101B-9397-08002B2CF9AE}" pid="5" name="Producer">
    <vt:lpwstr>Samsung Electronics</vt:lpwstr>
  </property>
</Properties>
</file>